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my research direction and the problem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challenge framing from my mentor. My research maps directly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deployed model can change at the input, in its predictions, or in its real performance. Looking at only one level misses changes the others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Data windows go through the model. Three families of signals are computed per window, fused into one score, one change event is raised, then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stack, all in Python on Google Colab. Experiments are small, so free Colab is enough. Streamlit is optional and only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3"/>
        </a:solidFill>
      </p:bgPr>
    </p:bg>
    <p:spTree>
      <p:nvGrpSpPr>
        <p:cNvPr id="1" name=""/>
        <p:cNvGrpSpPr/>
        <p:nvPr/>
      </p:nvGrpSpPr>
      <p:grpSpPr>
        <a:xfrm>
          <a:off x="0" y="0"/>
          <a:ext cx="0" cy="0"/>
          <a:chOff x="0" y="0"/>
          <a:chExt cx="0" cy="0"/>
        </a:xfrm>
      </p:grpSpPr>
      <p:sp>
        <p:nvSpPr>
          <p:cNvPr id="3" name="Text 0"/>
          <p:cNvSpPr txBox="1"/>
          <p:nvPr/>
        </p:nvSpPr>
        <p:spPr>
          <a:xfrm>
            <a:off x="731520" y="731520"/>
            <a:ext cx="7315200" cy="274320"/>
          </a:xfrm>
          <a:prstGeom prst="rect">
            <a:avLst/>
          </a:prstGeom>
          <a:noFill/>
          <a:ln/>
        </p:spPr>
        <p:txBody>
          <a:bodyPr wrap="square" lIns="0" tIns="0" rIns="0" bIns="0"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AI/ML INTERNSHIP · ZOEENCLOUD</a:t>
            </a:r>
            <a:endParaRPr lang="en-US" sz="1200" dirty="0"/>
          </a:p>
        </p:txBody>
      </p:sp>
      <p:sp>
        <p:nvSpPr>
          <p:cNvPr id="4" name="Text 1"/>
          <p:cNvSpPr txBox="1"/>
          <p:nvPr/>
        </p:nvSpPr>
        <p:spPr>
          <a:xfrm>
            <a:off x="731520" y="1188720"/>
            <a:ext cx="7498080" cy="164592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Detecting and Explaining Meaningful Behavioural Changes in Deployed AI Models</a:t>
            </a:r>
            <a:endParaRPr lang="en-US" sz="3400" dirty="0"/>
          </a:p>
        </p:txBody>
      </p:sp>
      <p:sp>
        <p:nvSpPr>
          <p:cNvPr id="5" name="Text 2"/>
          <p:cNvSpPr txBox="1"/>
          <p:nvPr/>
        </p:nvSpPr>
        <p:spPr>
          <a:xfrm>
            <a:off x="731520" y="3200400"/>
            <a:ext cx="7315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Saniya Uzma</a:t>
            </a:r>
            <a:endParaRPr lang="en-US" sz="1800" dirty="0"/>
          </a:p>
        </p:txBody>
      </p:sp>
      <p:sp>
        <p:nvSpPr>
          <p:cNvPr id="6" name="Text 3"/>
          <p:cNvSpPr txBox="1"/>
          <p:nvPr/>
        </p:nvSpPr>
        <p:spPr>
          <a:xfrm>
            <a:off x="731520" y="3611880"/>
            <a:ext cx="731520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Mentor: Mohammed Matheen, CEO | Proprietor, ZoeenCloud</a:t>
            </a:r>
            <a:endParaRPr lang="en-US" sz="1400" dirty="0"/>
          </a:p>
        </p:txBody>
      </p:sp>
      <p:sp>
        <p:nvSpPr>
          <p:cNvPr id="7" name="Text 4"/>
          <p:cNvSpPr txBox="1"/>
          <p:nvPr/>
        </p:nvSpPr>
        <p:spPr>
          <a:xfrm>
            <a:off x="731520" y="4023360"/>
            <a:ext cx="7315200" cy="274320"/>
          </a:xfrm>
          <a:prstGeom prst="rect">
            <a:avLst/>
          </a:prstGeom>
          <a:noFill/>
          <a:ln/>
        </p:spPr>
        <p:txBody>
          <a:bodyPr wrap="square" lIns="0" tIns="0" rIns="0" bIns="0" rtlCol="0" anchor="ctr"/>
          <a:lstStyle/>
          <a:p>
            <a:pPr indent="0" marL="0">
              <a:buNone/>
            </a:pPr>
            <a:r>
              <a:rPr lang="en-US" sz="1300" dirty="0">
                <a:solidFill>
                  <a:srgbClr val="00B4D8"/>
                </a:solidFill>
                <a:latin typeface="Calibri" pitchFamily="34" charset="0"/>
                <a:ea typeface="Calibri" pitchFamily="34" charset="-122"/>
                <a:cs typeface="Calibri" pitchFamily="34" charset="-120"/>
              </a:rPr>
              <a:t>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233"/>
        </a:solidFill>
      </p:bgPr>
    </p:bg>
    <p:spTree>
      <p:nvGrpSpPr>
        <p:cNvPr id="1" name=""/>
        <p:cNvGrpSpPr/>
        <p:nvPr/>
      </p:nvGrpSpPr>
      <p:grpSpPr>
        <a:xfrm>
          <a:off x="0" y="0"/>
          <a:ext cx="0" cy="0"/>
          <a:chOff x="0" y="0"/>
          <a:chExt cx="0" cy="0"/>
        </a:xfrm>
      </p:grpSpPr>
      <p:sp>
        <p:nvSpPr>
          <p:cNvPr id="3" name="Text 0"/>
          <p:cNvSpPr txBox="1"/>
          <p:nvPr/>
        </p:nvSpPr>
        <p:spPr>
          <a:xfrm>
            <a:off x="731520" y="640080"/>
            <a:ext cx="7680960" cy="822960"/>
          </a:xfrm>
          <a:prstGeom prst="rect">
            <a:avLst/>
          </a:prstGeom>
          <a:noFill/>
          <a:ln/>
        </p:spPr>
        <p:txBody>
          <a:bodyPr wrap="square" lIns="0" tIns="0" rIns="0" bIns="0" rtlCol="0" anchor="ctr"/>
          <a:lstStyle/>
          <a:p>
            <a:pPr indent="0" marL="0">
              <a:buNone/>
            </a:pPr>
            <a:r>
              <a:rPr lang="en-US" sz="4000" b="1" dirty="0">
                <a:solidFill>
                  <a:srgbClr val="00B4D8"/>
                </a:solidFill>
                <a:latin typeface="Calibri" pitchFamily="34" charset="0"/>
                <a:ea typeface="Calibri" pitchFamily="34" charset="-122"/>
                <a:cs typeface="Calibri" pitchFamily="34" charset="-120"/>
              </a:rPr>
              <a:t>“What changed?”</a:t>
            </a:r>
            <a:endParaRPr lang="en-US" sz="4000" dirty="0"/>
          </a:p>
        </p:txBody>
      </p:sp>
      <p:sp>
        <p:nvSpPr>
          <p:cNvPr id="4" name="Text 1"/>
          <p:cNvSpPr txBox="1"/>
          <p:nvPr/>
        </p:nvSpPr>
        <p:spPr>
          <a:xfrm>
            <a:off x="731520" y="1645920"/>
            <a:ext cx="7680960" cy="10058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Real-world systems constantly change. Meaningful changes rarely appear as one obvious event. They emerge through a sequence of smaller changes across different signals.</a:t>
            </a:r>
            <a:endParaRPr lang="en-US" sz="1700" dirty="0"/>
          </a:p>
        </p:txBody>
      </p:sp>
      <p:sp>
        <p:nvSpPr>
          <p:cNvPr id="5" name="Text 2"/>
          <p:cNvSpPr txBox="1"/>
          <p:nvPr/>
        </p:nvSpPr>
        <p:spPr>
          <a:xfrm>
            <a:off x="731520" y="2834640"/>
            <a:ext cx="7680960" cy="365760"/>
          </a:xfrm>
          <a:prstGeom prst="rect">
            <a:avLst/>
          </a:prstGeom>
          <a:noFill/>
          <a:ln/>
        </p:spPr>
        <p:txBody>
          <a:bodyPr wrap="square" lIns="0" tIns="0" rIns="0" bIns="0" rtlCol="0" anchor="ctr"/>
          <a:lstStyle/>
          <a:p>
            <a:pPr indent="0" marL="0">
              <a:buNone/>
            </a:pPr>
            <a:r>
              <a:rPr lang="en-US" sz="1600" dirty="0">
                <a:solidFill>
                  <a:srgbClr val="8A94A6"/>
                </a:solidFill>
                <a:latin typeface="Calibri" pitchFamily="34" charset="0"/>
                <a:ea typeface="Calibri" pitchFamily="34" charset="-122"/>
                <a:cs typeface="Calibri" pitchFamily="34" charset="-120"/>
              </a:rPr>
              <a:t>The question is not “Is there an anomaly?”</a:t>
            </a:r>
            <a:endParaRPr lang="en-US" sz="1600" dirty="0"/>
          </a:p>
        </p:txBody>
      </p:sp>
      <p:sp>
        <p:nvSpPr>
          <p:cNvPr id="6" name="Text 3"/>
          <p:cNvSpPr txBox="1"/>
          <p:nvPr/>
        </p:nvSpPr>
        <p:spPr>
          <a:xfrm>
            <a:off x="731520" y="3246120"/>
            <a:ext cx="7680960" cy="82296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It is: what changed, when did it change, and why does it matter?</a:t>
            </a:r>
            <a:endParaRPr lang="en-US" sz="2200" dirty="0"/>
          </a:p>
        </p:txBody>
      </p:sp>
      <p:sp>
        <p:nvSpPr>
          <p:cNvPr id="7" name="Text 4"/>
          <p:cNvSpPr txBox="1"/>
          <p:nvPr/>
        </p:nvSpPr>
        <p:spPr>
          <a:xfrm>
            <a:off x="731520" y="4206240"/>
            <a:ext cx="5486400" cy="274320"/>
          </a:xfrm>
          <a:prstGeom prst="rect">
            <a:avLst/>
          </a:prstGeom>
          <a:noFill/>
          <a:ln/>
        </p:spPr>
        <p:txBody>
          <a:bodyPr wrap="square" lIns="0" tIns="0" rIns="0" bIns="0" rtlCol="0" anchor="ctr"/>
          <a:lstStyle/>
          <a:p>
            <a:pPr indent="0" marL="0">
              <a:buNone/>
            </a:pPr>
            <a:r>
              <a:rPr lang="en-US" sz="1200" dirty="0">
                <a:solidFill>
                  <a:srgbClr val="00B4D8"/>
                </a:solidFill>
                <a:latin typeface="Calibri" pitchFamily="34" charset="0"/>
                <a:ea typeface="Calibri" pitchFamily="34" charset="-122"/>
                <a:cs typeface="Calibri" pitchFamily="34" charset="-120"/>
              </a:rPr>
              <a:t>— Mohammed Matheen, CEO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B2233"/>
                </a:solidFill>
                <a:latin typeface="Calibri" pitchFamily="34" charset="0"/>
                <a:ea typeface="Calibri" pitchFamily="34" charset="-122"/>
                <a:cs typeface="Calibri" pitchFamily="34" charset="-120"/>
              </a:rPr>
              <a:t>Three levels where change shows up</a:t>
            </a:r>
            <a:endParaRPr lang="en-US" sz="2800" dirty="0"/>
          </a:p>
        </p:txBody>
      </p:sp>
      <p:sp>
        <p:nvSpPr>
          <p:cNvPr id="4" name="Shape 1"/>
          <p:cNvSpPr/>
          <p:nvPr/>
        </p:nvSpPr>
        <p:spPr>
          <a:xfrm>
            <a:off x="548640" y="960120"/>
            <a:ext cx="822960" cy="45720"/>
          </a:xfrm>
          <a:prstGeom prst="rect">
            <a:avLst/>
          </a:prstGeom>
          <a:solidFill>
            <a:srgbClr val="00B4D8"/>
          </a:solidFill>
          <a:ln w="12700">
            <a:solidFill>
              <a:srgbClr val="00B4D8"/>
            </a:solidFill>
            <a:prstDash val="solid"/>
          </a:ln>
        </p:spPr>
      </p:sp>
      <p:sp>
        <p:nvSpPr>
          <p:cNvPr id="5" name="Shape 2"/>
          <p:cNvSpPr/>
          <p:nvPr/>
        </p:nvSpPr>
        <p:spPr>
          <a:xfrm>
            <a:off x="548640" y="1371600"/>
            <a:ext cx="2560320" cy="2286000"/>
          </a:xfrm>
          <a:prstGeom prst="roundRect">
            <a:avLst>
              <a:gd name="adj" fmla="val 3200"/>
            </a:avLst>
          </a:prstGeom>
          <a:solidFill>
            <a:srgbClr val="F4F8FB"/>
          </a:solidFill>
          <a:ln w="12700">
            <a:solidFill>
              <a:srgbClr val="D5E3EC"/>
            </a:solidFill>
            <a:prstDash val="solid"/>
          </a:ln>
        </p:spPr>
      </p:sp>
      <p:sp>
        <p:nvSpPr>
          <p:cNvPr id="6" name="Text 3"/>
          <p:cNvSpPr txBox="1"/>
          <p:nvPr/>
        </p:nvSpPr>
        <p:spPr>
          <a:xfrm>
            <a:off x="731520" y="1508760"/>
            <a:ext cx="2194560" cy="365760"/>
          </a:xfrm>
          <a:prstGeom prst="rect">
            <a:avLst/>
          </a:prstGeom>
          <a:noFill/>
          <a:ln/>
        </p:spPr>
        <p:txBody>
          <a:bodyPr wrap="square" lIns="0" tIns="0" rIns="0" bIns="0" rtlCol="0" anchor="ctr"/>
          <a:lstStyle/>
          <a:p>
            <a:pPr indent="0" marL="0">
              <a:buNone/>
            </a:pPr>
            <a:r>
              <a:rPr lang="en-US" sz="1700" b="1" dirty="0">
                <a:solidFill>
                  <a:srgbClr val="1B2233"/>
                </a:solidFill>
                <a:latin typeface="Calibri" pitchFamily="34" charset="0"/>
                <a:ea typeface="Calibri" pitchFamily="34" charset="-122"/>
                <a:cs typeface="Calibri" pitchFamily="34" charset="-120"/>
              </a:rPr>
              <a:t>Input drift</a:t>
            </a:r>
            <a:endParaRPr lang="en-US" sz="1700" dirty="0"/>
          </a:p>
        </p:txBody>
      </p:sp>
      <p:sp>
        <p:nvSpPr>
          <p:cNvPr id="7" name="Text 4"/>
          <p:cNvSpPr txBox="1"/>
          <p:nvPr/>
        </p:nvSpPr>
        <p:spPr>
          <a:xfrm>
            <a:off x="731520" y="1965960"/>
            <a:ext cx="2194560" cy="7315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The data entering the model has changed.</a:t>
            </a:r>
            <a:endParaRPr lang="en-US" sz="1300" dirty="0"/>
          </a:p>
        </p:txBody>
      </p:sp>
      <p:sp>
        <p:nvSpPr>
          <p:cNvPr id="8" name="Text 5"/>
          <p:cNvSpPr txBox="1"/>
          <p:nvPr/>
        </p:nvSpPr>
        <p:spPr>
          <a:xfrm>
            <a:off x="731520" y="2743200"/>
            <a:ext cx="2194560" cy="731520"/>
          </a:xfrm>
          <a:prstGeom prst="rect">
            <a:avLst/>
          </a:prstGeom>
          <a:noFill/>
          <a:ln/>
        </p:spPr>
        <p:txBody>
          <a:bodyPr wrap="square" lIns="0" tIns="0" rIns="0" bIns="0" rtlCol="0" anchor="t"/>
          <a:lstStyle/>
          <a:p>
            <a:pPr indent="0" marL="0">
              <a:buNone/>
            </a:pPr>
            <a:r>
              <a:rPr lang="en-US" sz="1200" i="1" dirty="0">
                <a:solidFill>
                  <a:srgbClr val="5A6577"/>
                </a:solidFill>
                <a:latin typeface="Calibri" pitchFamily="34" charset="0"/>
                <a:ea typeface="Calibri" pitchFamily="34" charset="-122"/>
                <a:cs typeface="Calibri" pitchFamily="34" charset="-120"/>
              </a:rPr>
              <a:t>Feature distributions shift from the training data.</a:t>
            </a:r>
            <a:endParaRPr lang="en-US" sz="1200" dirty="0"/>
          </a:p>
        </p:txBody>
      </p:sp>
      <p:sp>
        <p:nvSpPr>
          <p:cNvPr id="9" name="Shape 6"/>
          <p:cNvSpPr/>
          <p:nvPr/>
        </p:nvSpPr>
        <p:spPr>
          <a:xfrm>
            <a:off x="3291840" y="1371600"/>
            <a:ext cx="2560320" cy="2286000"/>
          </a:xfrm>
          <a:prstGeom prst="roundRect">
            <a:avLst>
              <a:gd name="adj" fmla="val 3200"/>
            </a:avLst>
          </a:prstGeom>
          <a:solidFill>
            <a:srgbClr val="F4F8FB"/>
          </a:solidFill>
          <a:ln w="12700">
            <a:solidFill>
              <a:srgbClr val="D5E3EC"/>
            </a:solidFill>
            <a:prstDash val="solid"/>
          </a:ln>
        </p:spPr>
      </p:sp>
      <p:sp>
        <p:nvSpPr>
          <p:cNvPr id="10" name="Text 7"/>
          <p:cNvSpPr txBox="1"/>
          <p:nvPr/>
        </p:nvSpPr>
        <p:spPr>
          <a:xfrm>
            <a:off x="3474720" y="1508760"/>
            <a:ext cx="2194560" cy="365760"/>
          </a:xfrm>
          <a:prstGeom prst="rect">
            <a:avLst/>
          </a:prstGeom>
          <a:noFill/>
          <a:ln/>
        </p:spPr>
        <p:txBody>
          <a:bodyPr wrap="square" lIns="0" tIns="0" rIns="0" bIns="0" rtlCol="0" anchor="ctr"/>
          <a:lstStyle/>
          <a:p>
            <a:pPr indent="0" marL="0">
              <a:buNone/>
            </a:pPr>
            <a:r>
              <a:rPr lang="en-US" sz="1700" b="1" dirty="0">
                <a:solidFill>
                  <a:srgbClr val="1B2233"/>
                </a:solidFill>
                <a:latin typeface="Calibri" pitchFamily="34" charset="0"/>
                <a:ea typeface="Calibri" pitchFamily="34" charset="-122"/>
                <a:cs typeface="Calibri" pitchFamily="34" charset="-120"/>
              </a:rPr>
              <a:t>Prediction drift</a:t>
            </a:r>
            <a:endParaRPr lang="en-US" sz="1700" dirty="0"/>
          </a:p>
        </p:txBody>
      </p:sp>
      <p:sp>
        <p:nvSpPr>
          <p:cNvPr id="11" name="Text 8"/>
          <p:cNvSpPr txBox="1"/>
          <p:nvPr/>
        </p:nvSpPr>
        <p:spPr>
          <a:xfrm>
            <a:off x="3474720" y="1965960"/>
            <a:ext cx="2194560" cy="7315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The model’s outputs are shifting.</a:t>
            </a:r>
            <a:endParaRPr lang="en-US" sz="1300" dirty="0"/>
          </a:p>
        </p:txBody>
      </p:sp>
      <p:sp>
        <p:nvSpPr>
          <p:cNvPr id="12" name="Text 9"/>
          <p:cNvSpPr txBox="1"/>
          <p:nvPr/>
        </p:nvSpPr>
        <p:spPr>
          <a:xfrm>
            <a:off x="3474720" y="2743200"/>
            <a:ext cx="2194560" cy="731520"/>
          </a:xfrm>
          <a:prstGeom prst="rect">
            <a:avLst/>
          </a:prstGeom>
          <a:noFill/>
          <a:ln/>
        </p:spPr>
        <p:txBody>
          <a:bodyPr wrap="square" lIns="0" tIns="0" rIns="0" bIns="0" rtlCol="0" anchor="t"/>
          <a:lstStyle/>
          <a:p>
            <a:pPr indent="0" marL="0">
              <a:buNone/>
            </a:pPr>
            <a:r>
              <a:rPr lang="en-US" sz="1200" i="1" dirty="0">
                <a:solidFill>
                  <a:srgbClr val="5A6577"/>
                </a:solidFill>
                <a:latin typeface="Calibri" pitchFamily="34" charset="0"/>
                <a:ea typeface="Calibri" pitchFamily="34" charset="-122"/>
                <a:cs typeface="Calibri" pitchFamily="34" charset="-120"/>
              </a:rPr>
              <a:t>Class balance and confidence move over time.</a:t>
            </a:r>
            <a:endParaRPr lang="en-US" sz="1200" dirty="0"/>
          </a:p>
        </p:txBody>
      </p:sp>
      <p:sp>
        <p:nvSpPr>
          <p:cNvPr id="13" name="Shape 10"/>
          <p:cNvSpPr/>
          <p:nvPr/>
        </p:nvSpPr>
        <p:spPr>
          <a:xfrm>
            <a:off x="6035040" y="1371600"/>
            <a:ext cx="2560320" cy="2286000"/>
          </a:xfrm>
          <a:prstGeom prst="roundRect">
            <a:avLst>
              <a:gd name="adj" fmla="val 3200"/>
            </a:avLst>
          </a:prstGeom>
          <a:solidFill>
            <a:srgbClr val="F4F8FB"/>
          </a:solidFill>
          <a:ln w="12700">
            <a:solidFill>
              <a:srgbClr val="D5E3EC"/>
            </a:solidFill>
            <a:prstDash val="solid"/>
          </a:ln>
        </p:spPr>
      </p:sp>
      <p:sp>
        <p:nvSpPr>
          <p:cNvPr id="14" name="Text 11"/>
          <p:cNvSpPr txBox="1"/>
          <p:nvPr/>
        </p:nvSpPr>
        <p:spPr>
          <a:xfrm>
            <a:off x="6217920" y="1508760"/>
            <a:ext cx="2194560" cy="365760"/>
          </a:xfrm>
          <a:prstGeom prst="rect">
            <a:avLst/>
          </a:prstGeom>
          <a:noFill/>
          <a:ln/>
        </p:spPr>
        <p:txBody>
          <a:bodyPr wrap="square" lIns="0" tIns="0" rIns="0" bIns="0" rtlCol="0" anchor="ctr"/>
          <a:lstStyle/>
          <a:p>
            <a:pPr indent="0" marL="0">
              <a:buNone/>
            </a:pPr>
            <a:r>
              <a:rPr lang="en-US" sz="1700" b="1" dirty="0">
                <a:solidFill>
                  <a:srgbClr val="1B2233"/>
                </a:solidFill>
                <a:latin typeface="Calibri" pitchFamily="34" charset="0"/>
                <a:ea typeface="Calibri" pitchFamily="34" charset="-122"/>
                <a:cs typeface="Calibri" pitchFamily="34" charset="-120"/>
              </a:rPr>
              <a:t>Performance drift</a:t>
            </a:r>
            <a:endParaRPr lang="en-US" sz="1700" dirty="0"/>
          </a:p>
        </p:txBody>
      </p:sp>
      <p:sp>
        <p:nvSpPr>
          <p:cNvPr id="15" name="Text 12"/>
          <p:cNvSpPr txBox="1"/>
          <p:nvPr/>
        </p:nvSpPr>
        <p:spPr>
          <a:xfrm>
            <a:off x="6217920" y="1965960"/>
            <a:ext cx="2194560" cy="7315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Accuracy and error rates degrade.</a:t>
            </a:r>
            <a:endParaRPr lang="en-US" sz="1300" dirty="0"/>
          </a:p>
        </p:txBody>
      </p:sp>
      <p:sp>
        <p:nvSpPr>
          <p:cNvPr id="16" name="Text 13"/>
          <p:cNvSpPr txBox="1"/>
          <p:nvPr/>
        </p:nvSpPr>
        <p:spPr>
          <a:xfrm>
            <a:off x="6217920" y="2743200"/>
            <a:ext cx="2194560" cy="731520"/>
          </a:xfrm>
          <a:prstGeom prst="rect">
            <a:avLst/>
          </a:prstGeom>
          <a:noFill/>
          <a:ln/>
        </p:spPr>
        <p:txBody>
          <a:bodyPr wrap="square" lIns="0" tIns="0" rIns="0" bIns="0" rtlCol="0" anchor="t"/>
          <a:lstStyle/>
          <a:p>
            <a:pPr indent="0" marL="0">
              <a:buNone/>
            </a:pPr>
            <a:r>
              <a:rPr lang="en-US" sz="1200" i="1" dirty="0">
                <a:solidFill>
                  <a:srgbClr val="5A6577"/>
                </a:solidFill>
                <a:latin typeface="Calibri" pitchFamily="34" charset="0"/>
                <a:ea typeface="Calibri" pitchFamily="34" charset="-122"/>
                <a:cs typeface="Calibri" pitchFamily="34" charset="-120"/>
              </a:rPr>
              <a:t>Often visible only after labels arrive.</a:t>
            </a:r>
            <a:endParaRPr lang="en-US" sz="1200" dirty="0"/>
          </a:p>
        </p:txBody>
      </p:sp>
      <p:sp>
        <p:nvSpPr>
          <p:cNvPr id="17" name="Shape 14"/>
          <p:cNvSpPr/>
          <p:nvPr/>
        </p:nvSpPr>
        <p:spPr>
          <a:xfrm>
            <a:off x="548640" y="3840480"/>
            <a:ext cx="8046720" cy="548640"/>
          </a:xfrm>
          <a:prstGeom prst="roundRect">
            <a:avLst>
              <a:gd name="adj" fmla="val 10000"/>
            </a:avLst>
          </a:prstGeom>
          <a:solidFill>
            <a:srgbClr val="00B4D8"/>
          </a:solidFill>
          <a:ln w="12700">
            <a:solidFill>
              <a:srgbClr val="00B4D8"/>
            </a:solidFill>
            <a:prstDash val="solid"/>
          </a:ln>
        </p:spPr>
      </p:sp>
      <p:sp>
        <p:nvSpPr>
          <p:cNvPr id="18" name="Text 15"/>
          <p:cNvSpPr txBox="1"/>
          <p:nvPr/>
        </p:nvSpPr>
        <p:spPr>
          <a:xfrm>
            <a:off x="640080" y="3840480"/>
            <a:ext cx="78638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The model still runs. No error is thrown. But something has changed.</a:t>
            </a:r>
            <a:endParaRPr lang="en-US" sz="1500" dirty="0"/>
          </a:p>
        </p:txBody>
      </p:sp>
      <p:sp>
        <p:nvSpPr>
          <p:cNvPr id="19" name="Text 16"/>
          <p:cNvSpPr txBox="1"/>
          <p:nvPr/>
        </p:nvSpPr>
        <p:spPr>
          <a:xfrm>
            <a:off x="548640" y="4663440"/>
            <a:ext cx="5486400" cy="274320"/>
          </a:xfrm>
          <a:prstGeom prst="rect">
            <a:avLst/>
          </a:prstGeom>
          <a:noFill/>
          <a:ln/>
        </p:spPr>
        <p:txBody>
          <a:bodyPr wrap="square" lIns="0" tIns="0" rIns="0" bIns="0" rtlCol="0" anchor="ctr"/>
          <a:lstStyle/>
          <a:p>
            <a:pPr indent="0" marL="0">
              <a:buNone/>
            </a:pPr>
            <a:r>
              <a:rPr lang="en-US" sz="1000" dirty="0">
                <a:solidFill>
                  <a:srgbClr val="5A6577"/>
                </a:solidFill>
                <a:latin typeface="Calibri" pitchFamily="34" charset="0"/>
                <a:ea typeface="Calibri" pitchFamily="34" charset="-122"/>
                <a:cs typeface="Calibri" pitchFamily="34" charset="-120"/>
              </a:rPr>
              <a:t>Saniya Uzma  |  ZoeenCloud AI/ML Internship</a:t>
            </a:r>
            <a:endParaRPr lang="en-US" sz="1000" dirty="0"/>
          </a:p>
        </p:txBody>
      </p:sp>
      <p:sp>
        <p:nvSpPr>
          <p:cNvPr id="20" name="Text 17"/>
          <p:cNvSpPr txBox="1"/>
          <p:nvPr/>
        </p:nvSpPr>
        <p:spPr>
          <a:xfrm>
            <a:off x="8229600" y="4663440"/>
            <a:ext cx="365760" cy="274320"/>
          </a:xfrm>
          <a:prstGeom prst="rect">
            <a:avLst/>
          </a:prstGeom>
          <a:noFill/>
          <a:ln/>
        </p:spPr>
        <p:txBody>
          <a:bodyPr wrap="square" lIns="0" tIns="0" rIns="0" bIns="0" rtlCol="0" anchor="ctr"/>
          <a:lstStyle/>
          <a:p>
            <a:pPr algn="r" indent="0" marL="0">
              <a:buNone/>
            </a:pPr>
            <a:r>
              <a:rPr lang="en-US" sz="1000" dirty="0">
                <a:solidFill>
                  <a:srgbClr val="5A6577"/>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B2233"/>
                </a:solidFill>
                <a:latin typeface="Calibri" pitchFamily="34" charset="0"/>
                <a:ea typeface="Calibri" pitchFamily="34" charset="-122"/>
                <a:cs typeface="Calibri" pitchFamily="34" charset="-120"/>
              </a:rPr>
              <a:t>How the system works</a:t>
            </a:r>
            <a:endParaRPr lang="en-US" sz="2800" dirty="0"/>
          </a:p>
        </p:txBody>
      </p:sp>
      <p:sp>
        <p:nvSpPr>
          <p:cNvPr id="4" name="Shape 1"/>
          <p:cNvSpPr/>
          <p:nvPr/>
        </p:nvSpPr>
        <p:spPr>
          <a:xfrm>
            <a:off x="548640" y="960120"/>
            <a:ext cx="822960" cy="45720"/>
          </a:xfrm>
          <a:prstGeom prst="rect">
            <a:avLst/>
          </a:prstGeom>
          <a:solidFill>
            <a:srgbClr val="00B4D8"/>
          </a:solidFill>
          <a:ln w="12700">
            <a:solidFill>
              <a:srgbClr val="00B4D8"/>
            </a:solidFill>
            <a:prstDash val="solid"/>
          </a:ln>
        </p:spPr>
      </p:sp>
      <p:sp>
        <p:nvSpPr>
          <p:cNvPr id="5" name="Shape 2"/>
          <p:cNvSpPr/>
          <p:nvPr/>
        </p:nvSpPr>
        <p:spPr>
          <a:xfrm>
            <a:off x="320040" y="1554480"/>
            <a:ext cx="1097280" cy="914400"/>
          </a:xfrm>
          <a:prstGeom prst="roundRect">
            <a:avLst>
              <a:gd name="adj" fmla="val 8000"/>
            </a:avLst>
          </a:prstGeom>
          <a:solidFill>
            <a:srgbClr val="0F3A44"/>
          </a:solidFill>
          <a:ln w="12700">
            <a:solidFill>
              <a:srgbClr val="0F3A44"/>
            </a:solidFill>
            <a:prstDash val="solid"/>
          </a:ln>
        </p:spPr>
      </p:sp>
      <p:sp>
        <p:nvSpPr>
          <p:cNvPr id="6" name="Text 3"/>
          <p:cNvSpPr txBox="1"/>
          <p:nvPr/>
        </p:nvSpPr>
        <p:spPr>
          <a:xfrm>
            <a:off x="320040" y="1554480"/>
            <a:ext cx="109728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Incoming data</a:t>
            </a:r>
            <a:endParaRPr lang="en-US" sz="1200" dirty="0"/>
          </a:p>
        </p:txBody>
      </p:sp>
      <p:sp>
        <p:nvSpPr>
          <p:cNvPr id="7" name="Text 4"/>
          <p:cNvSpPr txBox="1"/>
          <p:nvPr/>
        </p:nvSpPr>
        <p:spPr>
          <a:xfrm>
            <a:off x="274320" y="2560320"/>
            <a:ext cx="1188720" cy="640080"/>
          </a:xfrm>
          <a:prstGeom prst="rect">
            <a:avLst/>
          </a:prstGeom>
          <a:noFill/>
          <a:ln/>
        </p:spPr>
        <p:txBody>
          <a:bodyPr wrap="square" lIns="0" tIns="0" rIns="0" bIns="0" rtlCol="0" anchor="t"/>
          <a:lstStyle/>
          <a:p>
            <a:pPr algn="ctr" indent="0" marL="0">
              <a:buNone/>
            </a:pPr>
            <a:r>
              <a:rPr lang="en-US" sz="1000" dirty="0">
                <a:solidFill>
                  <a:srgbClr val="5A6577"/>
                </a:solidFill>
                <a:latin typeface="Calibri" pitchFamily="34" charset="0"/>
                <a:ea typeface="Calibri" pitchFamily="34" charset="-122"/>
                <a:cs typeface="Calibri" pitchFamily="34" charset="-120"/>
              </a:rPr>
              <a:t>data windows</a:t>
            </a:r>
            <a:endParaRPr lang="en-US" sz="1000" dirty="0"/>
          </a:p>
        </p:txBody>
      </p:sp>
      <p:sp>
        <p:nvSpPr>
          <p:cNvPr id="8" name="Text 5"/>
          <p:cNvSpPr txBox="1"/>
          <p:nvPr/>
        </p:nvSpPr>
        <p:spPr>
          <a:xfrm>
            <a:off x="1389888" y="1783080"/>
            <a:ext cx="182880" cy="457200"/>
          </a:xfrm>
          <a:prstGeom prst="rect">
            <a:avLst/>
          </a:prstGeom>
          <a:noFill/>
          <a:ln/>
        </p:spPr>
        <p:txBody>
          <a:bodyPr wrap="square" lIns="0" tIns="0" rIns="0" bIns="0" rtlCol="0" anchor="ctr"/>
          <a:lstStyle/>
          <a:p>
            <a:pPr algn="ctr" indent="0" marL="0">
              <a:buNone/>
            </a:pPr>
            <a:r>
              <a:rPr lang="en-US" sz="2000" b="1" dirty="0">
                <a:solidFill>
                  <a:srgbClr val="5A6577"/>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1572768" y="1554480"/>
            <a:ext cx="1097280" cy="914400"/>
          </a:xfrm>
          <a:prstGeom prst="roundRect">
            <a:avLst>
              <a:gd name="adj" fmla="val 8000"/>
            </a:avLst>
          </a:prstGeom>
          <a:solidFill>
            <a:srgbClr val="0F3A44"/>
          </a:solidFill>
          <a:ln w="12700">
            <a:solidFill>
              <a:srgbClr val="0F3A44"/>
            </a:solidFill>
            <a:prstDash val="solid"/>
          </a:ln>
        </p:spPr>
      </p:sp>
      <p:sp>
        <p:nvSpPr>
          <p:cNvPr id="10" name="Text 7"/>
          <p:cNvSpPr txBox="1"/>
          <p:nvPr/>
        </p:nvSpPr>
        <p:spPr>
          <a:xfrm>
            <a:off x="1572768" y="1554480"/>
            <a:ext cx="109728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model + adapter</a:t>
            </a:r>
            <a:endParaRPr lang="en-US" sz="1200" dirty="0"/>
          </a:p>
        </p:txBody>
      </p:sp>
      <p:sp>
        <p:nvSpPr>
          <p:cNvPr id="11" name="Text 8"/>
          <p:cNvSpPr txBox="1"/>
          <p:nvPr/>
        </p:nvSpPr>
        <p:spPr>
          <a:xfrm>
            <a:off x="1527048" y="2560320"/>
            <a:ext cx="1188720" cy="640080"/>
          </a:xfrm>
          <a:prstGeom prst="rect">
            <a:avLst/>
          </a:prstGeom>
          <a:noFill/>
          <a:ln/>
        </p:spPr>
        <p:txBody>
          <a:bodyPr wrap="square" lIns="0" tIns="0" rIns="0" bIns="0" rtlCol="0" anchor="t"/>
          <a:lstStyle/>
          <a:p>
            <a:pPr algn="ctr" indent="0" marL="0">
              <a:buNone/>
            </a:pPr>
            <a:r>
              <a:rPr lang="en-US" sz="1000" dirty="0">
                <a:solidFill>
                  <a:srgbClr val="5A6577"/>
                </a:solidFill>
                <a:latin typeface="Calibri" pitchFamily="34" charset="0"/>
                <a:ea typeface="Calibri" pitchFamily="34" charset="-122"/>
                <a:cs typeface="Calibri" pitchFamily="34" charset="-120"/>
              </a:rPr>
              <a:t>predict_proba</a:t>
            </a:r>
            <a:endParaRPr lang="en-US" sz="1000" dirty="0"/>
          </a:p>
        </p:txBody>
      </p:sp>
      <p:sp>
        <p:nvSpPr>
          <p:cNvPr id="12" name="Text 9"/>
          <p:cNvSpPr txBox="1"/>
          <p:nvPr/>
        </p:nvSpPr>
        <p:spPr>
          <a:xfrm>
            <a:off x="2642616" y="1783080"/>
            <a:ext cx="182880" cy="457200"/>
          </a:xfrm>
          <a:prstGeom prst="rect">
            <a:avLst/>
          </a:prstGeom>
          <a:noFill/>
          <a:ln/>
        </p:spPr>
        <p:txBody>
          <a:bodyPr wrap="square" lIns="0" tIns="0" rIns="0" bIns="0" rtlCol="0" anchor="ctr"/>
          <a:lstStyle/>
          <a:p>
            <a:pPr algn="ctr" indent="0" marL="0">
              <a:buNone/>
            </a:pPr>
            <a:r>
              <a:rPr lang="en-US" sz="2000" b="1" dirty="0">
                <a:solidFill>
                  <a:srgbClr val="5A6577"/>
                </a:solidFill>
                <a:latin typeface="Calibri" pitchFamily="34" charset="0"/>
                <a:ea typeface="Calibri" pitchFamily="34" charset="-122"/>
                <a:cs typeface="Calibri" pitchFamily="34" charset="-120"/>
              </a:rPr>
              <a:t>›</a:t>
            </a:r>
            <a:endParaRPr lang="en-US" sz="2000" dirty="0"/>
          </a:p>
        </p:txBody>
      </p:sp>
      <p:sp>
        <p:nvSpPr>
          <p:cNvPr id="13" name="Shape 10"/>
          <p:cNvSpPr/>
          <p:nvPr/>
        </p:nvSpPr>
        <p:spPr>
          <a:xfrm>
            <a:off x="2825496" y="1554480"/>
            <a:ext cx="1097280" cy="914400"/>
          </a:xfrm>
          <a:prstGeom prst="roundRect">
            <a:avLst>
              <a:gd name="adj" fmla="val 8000"/>
            </a:avLst>
          </a:prstGeom>
          <a:solidFill>
            <a:srgbClr val="2E7D8C"/>
          </a:solidFill>
          <a:ln w="12700">
            <a:solidFill>
              <a:srgbClr val="2E7D8C"/>
            </a:solidFill>
            <a:prstDash val="solid"/>
          </a:ln>
        </p:spPr>
      </p:sp>
      <p:sp>
        <p:nvSpPr>
          <p:cNvPr id="14" name="Text 11"/>
          <p:cNvSpPr txBox="1"/>
          <p:nvPr/>
        </p:nvSpPr>
        <p:spPr>
          <a:xfrm>
            <a:off x="2825496" y="1554480"/>
            <a:ext cx="109728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signal families</a:t>
            </a:r>
            <a:endParaRPr lang="en-US" sz="1200" dirty="0"/>
          </a:p>
        </p:txBody>
      </p:sp>
      <p:sp>
        <p:nvSpPr>
          <p:cNvPr id="15" name="Text 12"/>
          <p:cNvSpPr txBox="1"/>
          <p:nvPr/>
        </p:nvSpPr>
        <p:spPr>
          <a:xfrm>
            <a:off x="2779776" y="2560320"/>
            <a:ext cx="1188720" cy="640080"/>
          </a:xfrm>
          <a:prstGeom prst="rect">
            <a:avLst/>
          </a:prstGeom>
          <a:noFill/>
          <a:ln/>
        </p:spPr>
        <p:txBody>
          <a:bodyPr wrap="square" lIns="0" tIns="0" rIns="0" bIns="0" rtlCol="0" anchor="t"/>
          <a:lstStyle/>
          <a:p>
            <a:pPr algn="ctr" indent="0" marL="0">
              <a:buNone/>
            </a:pPr>
            <a:r>
              <a:rPr lang="en-US" sz="1000" dirty="0">
                <a:solidFill>
                  <a:srgbClr val="5A6577"/>
                </a:solidFill>
                <a:latin typeface="Calibri" pitchFamily="34" charset="0"/>
                <a:ea typeface="Calibri" pitchFamily="34" charset="-122"/>
                <a:cs typeface="Calibri" pitchFamily="34" charset="-120"/>
              </a:rPr>
              <a:t>input · prediction · performance</a:t>
            </a:r>
            <a:endParaRPr lang="en-US" sz="1000" dirty="0"/>
          </a:p>
        </p:txBody>
      </p:sp>
      <p:sp>
        <p:nvSpPr>
          <p:cNvPr id="16" name="Text 13"/>
          <p:cNvSpPr txBox="1"/>
          <p:nvPr/>
        </p:nvSpPr>
        <p:spPr>
          <a:xfrm>
            <a:off x="3895344" y="1783080"/>
            <a:ext cx="182880" cy="457200"/>
          </a:xfrm>
          <a:prstGeom prst="rect">
            <a:avLst/>
          </a:prstGeom>
          <a:noFill/>
          <a:ln/>
        </p:spPr>
        <p:txBody>
          <a:bodyPr wrap="square" lIns="0" tIns="0" rIns="0" bIns="0" rtlCol="0" anchor="ctr"/>
          <a:lstStyle/>
          <a:p>
            <a:pPr algn="ctr" indent="0" marL="0">
              <a:buNone/>
            </a:pPr>
            <a:r>
              <a:rPr lang="en-US" sz="2000" b="1" dirty="0">
                <a:solidFill>
                  <a:srgbClr val="5A6577"/>
                </a:solidFill>
                <a:latin typeface="Calibri" pitchFamily="34" charset="0"/>
                <a:ea typeface="Calibri" pitchFamily="34" charset="-122"/>
                <a:cs typeface="Calibri" pitchFamily="34" charset="-120"/>
              </a:rPr>
              <a:t>›</a:t>
            </a:r>
            <a:endParaRPr lang="en-US" sz="2000" dirty="0"/>
          </a:p>
        </p:txBody>
      </p:sp>
      <p:sp>
        <p:nvSpPr>
          <p:cNvPr id="17" name="Shape 14"/>
          <p:cNvSpPr/>
          <p:nvPr/>
        </p:nvSpPr>
        <p:spPr>
          <a:xfrm>
            <a:off x="4078224" y="1554480"/>
            <a:ext cx="1097280" cy="914400"/>
          </a:xfrm>
          <a:prstGeom prst="roundRect">
            <a:avLst>
              <a:gd name="adj" fmla="val 8000"/>
            </a:avLst>
          </a:prstGeom>
          <a:solidFill>
            <a:srgbClr val="B8863B"/>
          </a:solidFill>
          <a:ln w="12700">
            <a:solidFill>
              <a:srgbClr val="B8863B"/>
            </a:solidFill>
            <a:prstDash val="solid"/>
          </a:ln>
        </p:spPr>
      </p:sp>
      <p:sp>
        <p:nvSpPr>
          <p:cNvPr id="18" name="Text 15"/>
          <p:cNvSpPr txBox="1"/>
          <p:nvPr/>
        </p:nvSpPr>
        <p:spPr>
          <a:xfrm>
            <a:off x="4078224" y="1554480"/>
            <a:ext cx="109728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Signal fusion</a:t>
            </a:r>
            <a:endParaRPr lang="en-US" sz="1200" dirty="0"/>
          </a:p>
        </p:txBody>
      </p:sp>
      <p:sp>
        <p:nvSpPr>
          <p:cNvPr id="19" name="Text 16"/>
          <p:cNvSpPr txBox="1"/>
          <p:nvPr/>
        </p:nvSpPr>
        <p:spPr>
          <a:xfrm>
            <a:off x="4032504" y="2560320"/>
            <a:ext cx="1188720" cy="640080"/>
          </a:xfrm>
          <a:prstGeom prst="rect">
            <a:avLst/>
          </a:prstGeom>
          <a:noFill/>
          <a:ln/>
        </p:spPr>
        <p:txBody>
          <a:bodyPr wrap="square" lIns="0" tIns="0" rIns="0" bIns="0" rtlCol="0" anchor="t"/>
          <a:lstStyle/>
          <a:p>
            <a:pPr algn="ctr" indent="0" marL="0">
              <a:buNone/>
            </a:pPr>
            <a:r>
              <a:rPr lang="en-US" sz="1000" dirty="0">
                <a:solidFill>
                  <a:srgbClr val="5A6577"/>
                </a:solidFill>
                <a:latin typeface="Calibri" pitchFamily="34" charset="0"/>
                <a:ea typeface="Calibri" pitchFamily="34" charset="-122"/>
                <a:cs typeface="Calibri" pitchFamily="34" charset="-120"/>
              </a:rPr>
              <a:t>one combined score</a:t>
            </a:r>
            <a:endParaRPr lang="en-US" sz="1000" dirty="0"/>
          </a:p>
        </p:txBody>
      </p:sp>
      <p:sp>
        <p:nvSpPr>
          <p:cNvPr id="20" name="Text 17"/>
          <p:cNvSpPr txBox="1"/>
          <p:nvPr/>
        </p:nvSpPr>
        <p:spPr>
          <a:xfrm>
            <a:off x="5148072" y="1783080"/>
            <a:ext cx="182880" cy="457200"/>
          </a:xfrm>
          <a:prstGeom prst="rect">
            <a:avLst/>
          </a:prstGeom>
          <a:noFill/>
          <a:ln/>
        </p:spPr>
        <p:txBody>
          <a:bodyPr wrap="square" lIns="0" tIns="0" rIns="0" bIns="0" rtlCol="0" anchor="ctr"/>
          <a:lstStyle/>
          <a:p>
            <a:pPr algn="ctr" indent="0" marL="0">
              <a:buNone/>
            </a:pPr>
            <a:r>
              <a:rPr lang="en-US" sz="2000" b="1" dirty="0">
                <a:solidFill>
                  <a:srgbClr val="5A6577"/>
                </a:solidFill>
                <a:latin typeface="Calibri" pitchFamily="34" charset="0"/>
                <a:ea typeface="Calibri" pitchFamily="34" charset="-122"/>
                <a:cs typeface="Calibri" pitchFamily="34" charset="-120"/>
              </a:rPr>
              <a:t>›</a:t>
            </a:r>
            <a:endParaRPr lang="en-US" sz="2000" dirty="0"/>
          </a:p>
        </p:txBody>
      </p:sp>
      <p:sp>
        <p:nvSpPr>
          <p:cNvPr id="21" name="Shape 18"/>
          <p:cNvSpPr/>
          <p:nvPr/>
        </p:nvSpPr>
        <p:spPr>
          <a:xfrm>
            <a:off x="5330952" y="1554480"/>
            <a:ext cx="1097280" cy="914400"/>
          </a:xfrm>
          <a:prstGeom prst="roundRect">
            <a:avLst>
              <a:gd name="adj" fmla="val 8000"/>
            </a:avLst>
          </a:prstGeom>
          <a:solidFill>
            <a:srgbClr val="B8863B"/>
          </a:solidFill>
          <a:ln w="12700">
            <a:solidFill>
              <a:srgbClr val="B8863B"/>
            </a:solidFill>
            <a:prstDash val="solid"/>
          </a:ln>
        </p:spPr>
      </p:sp>
      <p:sp>
        <p:nvSpPr>
          <p:cNvPr id="22" name="Text 19"/>
          <p:cNvSpPr txBox="1"/>
          <p:nvPr/>
        </p:nvSpPr>
        <p:spPr>
          <a:xfrm>
            <a:off x="5330952" y="1554480"/>
            <a:ext cx="109728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Change event</a:t>
            </a:r>
            <a:endParaRPr lang="en-US" sz="1200" dirty="0"/>
          </a:p>
        </p:txBody>
      </p:sp>
      <p:sp>
        <p:nvSpPr>
          <p:cNvPr id="23" name="Text 20"/>
          <p:cNvSpPr txBox="1"/>
          <p:nvPr/>
        </p:nvSpPr>
        <p:spPr>
          <a:xfrm>
            <a:off x="5285232" y="2560320"/>
            <a:ext cx="1188720" cy="640080"/>
          </a:xfrm>
          <a:prstGeom prst="rect">
            <a:avLst/>
          </a:prstGeom>
          <a:noFill/>
          <a:ln/>
        </p:spPr>
        <p:txBody>
          <a:bodyPr wrap="square" lIns="0" tIns="0" rIns="0" bIns="0" rtlCol="0" anchor="t"/>
          <a:lstStyle/>
          <a:p>
            <a:pPr algn="ctr" indent="0" marL="0">
              <a:buNone/>
            </a:pPr>
            <a:r>
              <a:rPr lang="en-US" sz="1000" dirty="0">
                <a:solidFill>
                  <a:srgbClr val="5A6577"/>
                </a:solidFill>
                <a:latin typeface="Calibri" pitchFamily="34" charset="0"/>
                <a:ea typeface="Calibri" pitchFamily="34" charset="-122"/>
                <a:cs typeface="Calibri" pitchFamily="34" charset="-120"/>
              </a:rPr>
              <a:t>alarm + persistence</a:t>
            </a:r>
            <a:endParaRPr lang="en-US" sz="1000" dirty="0"/>
          </a:p>
        </p:txBody>
      </p:sp>
      <p:sp>
        <p:nvSpPr>
          <p:cNvPr id="24" name="Text 21"/>
          <p:cNvSpPr txBox="1"/>
          <p:nvPr/>
        </p:nvSpPr>
        <p:spPr>
          <a:xfrm>
            <a:off x="6400800" y="1783080"/>
            <a:ext cx="182880" cy="457200"/>
          </a:xfrm>
          <a:prstGeom prst="rect">
            <a:avLst/>
          </a:prstGeom>
          <a:noFill/>
          <a:ln/>
        </p:spPr>
        <p:txBody>
          <a:bodyPr wrap="square" lIns="0" tIns="0" rIns="0" bIns="0" rtlCol="0" anchor="ctr"/>
          <a:lstStyle/>
          <a:p>
            <a:pPr algn="ctr" indent="0" marL="0">
              <a:buNone/>
            </a:pPr>
            <a:r>
              <a:rPr lang="en-US" sz="2000" b="1" dirty="0">
                <a:solidFill>
                  <a:srgbClr val="5A6577"/>
                </a:solidFill>
                <a:latin typeface="Calibri" pitchFamily="34" charset="0"/>
                <a:ea typeface="Calibri" pitchFamily="34" charset="-122"/>
                <a:cs typeface="Calibri" pitchFamily="34" charset="-120"/>
              </a:rPr>
              <a:t>›</a:t>
            </a:r>
            <a:endParaRPr lang="en-US" sz="2000" dirty="0"/>
          </a:p>
        </p:txBody>
      </p:sp>
      <p:sp>
        <p:nvSpPr>
          <p:cNvPr id="25" name="Shape 22"/>
          <p:cNvSpPr/>
          <p:nvPr/>
        </p:nvSpPr>
        <p:spPr>
          <a:xfrm>
            <a:off x="6583680" y="1554480"/>
            <a:ext cx="1097280" cy="914400"/>
          </a:xfrm>
          <a:prstGeom prst="roundRect">
            <a:avLst>
              <a:gd name="adj" fmla="val 8000"/>
            </a:avLst>
          </a:prstGeom>
          <a:solidFill>
            <a:srgbClr val="B8863B"/>
          </a:solidFill>
          <a:ln w="12700">
            <a:solidFill>
              <a:srgbClr val="B8863B"/>
            </a:solidFill>
            <a:prstDash val="solid"/>
          </a:ln>
        </p:spPr>
      </p:sp>
      <p:sp>
        <p:nvSpPr>
          <p:cNvPr id="26" name="Text 23"/>
          <p:cNvSpPr txBox="1"/>
          <p:nvPr/>
        </p:nvSpPr>
        <p:spPr>
          <a:xfrm>
            <a:off x="6583680" y="1554480"/>
            <a:ext cx="109728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Explain</a:t>
            </a:r>
            <a:endParaRPr lang="en-US" sz="1200" dirty="0"/>
          </a:p>
        </p:txBody>
      </p:sp>
      <p:sp>
        <p:nvSpPr>
          <p:cNvPr id="27" name="Text 24"/>
          <p:cNvSpPr txBox="1"/>
          <p:nvPr/>
        </p:nvSpPr>
        <p:spPr>
          <a:xfrm>
            <a:off x="6537960" y="2560320"/>
            <a:ext cx="1188720" cy="640080"/>
          </a:xfrm>
          <a:prstGeom prst="rect">
            <a:avLst/>
          </a:prstGeom>
          <a:noFill/>
          <a:ln/>
        </p:spPr>
        <p:txBody>
          <a:bodyPr wrap="square" lIns="0" tIns="0" rIns="0" bIns="0" rtlCol="0" anchor="t"/>
          <a:lstStyle/>
          <a:p>
            <a:pPr algn="ctr" indent="0" marL="0">
              <a:buNone/>
            </a:pPr>
            <a:r>
              <a:rPr lang="en-US" sz="1000" dirty="0">
                <a:solidFill>
                  <a:srgbClr val="5A6577"/>
                </a:solidFill>
                <a:latin typeface="Calibri" pitchFamily="34" charset="0"/>
                <a:ea typeface="Calibri" pitchFamily="34" charset="-122"/>
                <a:cs typeface="Calibri" pitchFamily="34" charset="-120"/>
              </a:rPr>
              <a:t>onset · ranking · performance link</a:t>
            </a:r>
            <a:endParaRPr lang="en-US" sz="1000" dirty="0"/>
          </a:p>
        </p:txBody>
      </p:sp>
      <p:sp>
        <p:nvSpPr>
          <p:cNvPr id="28" name="Text 25"/>
          <p:cNvSpPr txBox="1"/>
          <p:nvPr/>
        </p:nvSpPr>
        <p:spPr>
          <a:xfrm>
            <a:off x="7653528" y="1783080"/>
            <a:ext cx="182880" cy="457200"/>
          </a:xfrm>
          <a:prstGeom prst="rect">
            <a:avLst/>
          </a:prstGeom>
          <a:noFill/>
          <a:ln/>
        </p:spPr>
        <p:txBody>
          <a:bodyPr wrap="square" lIns="0" tIns="0" rIns="0" bIns="0" rtlCol="0" anchor="ctr"/>
          <a:lstStyle/>
          <a:p>
            <a:pPr algn="ctr" indent="0" marL="0">
              <a:buNone/>
            </a:pPr>
            <a:r>
              <a:rPr lang="en-US" sz="2000" b="1" dirty="0">
                <a:solidFill>
                  <a:srgbClr val="5A6577"/>
                </a:solidFill>
                <a:latin typeface="Calibri" pitchFamily="34" charset="0"/>
                <a:ea typeface="Calibri" pitchFamily="34" charset="-122"/>
                <a:cs typeface="Calibri" pitchFamily="34" charset="-120"/>
              </a:rPr>
              <a:t>›</a:t>
            </a:r>
            <a:endParaRPr lang="en-US" sz="2000" dirty="0"/>
          </a:p>
        </p:txBody>
      </p:sp>
      <p:sp>
        <p:nvSpPr>
          <p:cNvPr id="29" name="Shape 26"/>
          <p:cNvSpPr/>
          <p:nvPr/>
        </p:nvSpPr>
        <p:spPr>
          <a:xfrm>
            <a:off x="7836408" y="1554480"/>
            <a:ext cx="1097280" cy="914400"/>
          </a:xfrm>
          <a:prstGeom prst="roundRect">
            <a:avLst>
              <a:gd name="adj" fmla="val 8000"/>
            </a:avLst>
          </a:prstGeom>
          <a:solidFill>
            <a:srgbClr val="5A5A5A"/>
          </a:solidFill>
          <a:ln w="12700">
            <a:solidFill>
              <a:srgbClr val="5A5A5A"/>
            </a:solidFill>
            <a:prstDash val="solid"/>
          </a:ln>
        </p:spPr>
      </p:sp>
      <p:sp>
        <p:nvSpPr>
          <p:cNvPr id="30" name="Text 27"/>
          <p:cNvSpPr txBox="1"/>
          <p:nvPr/>
        </p:nvSpPr>
        <p:spPr>
          <a:xfrm>
            <a:off x="7836408" y="1554480"/>
            <a:ext cx="109728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Results</a:t>
            </a:r>
            <a:endParaRPr lang="en-US" sz="1200" dirty="0"/>
          </a:p>
        </p:txBody>
      </p:sp>
      <p:sp>
        <p:nvSpPr>
          <p:cNvPr id="31" name="Text 28"/>
          <p:cNvSpPr txBox="1"/>
          <p:nvPr/>
        </p:nvSpPr>
        <p:spPr>
          <a:xfrm>
            <a:off x="7790688" y="2560320"/>
            <a:ext cx="1188720" cy="640080"/>
          </a:xfrm>
          <a:prstGeom prst="rect">
            <a:avLst/>
          </a:prstGeom>
          <a:noFill/>
          <a:ln/>
        </p:spPr>
        <p:txBody>
          <a:bodyPr wrap="square" lIns="0" tIns="0" rIns="0" bIns="0" rtlCol="0" anchor="t"/>
          <a:lstStyle/>
          <a:p>
            <a:pPr algn="ctr" indent="0" marL="0">
              <a:buNone/>
            </a:pPr>
            <a:r>
              <a:rPr lang="en-US" sz="1000" dirty="0">
                <a:solidFill>
                  <a:srgbClr val="5A6577"/>
                </a:solidFill>
                <a:latin typeface="Calibri" pitchFamily="34" charset="0"/>
                <a:ea typeface="Calibri" pitchFamily="34" charset="-122"/>
                <a:cs typeface="Calibri" pitchFamily="34" charset="-120"/>
              </a:rPr>
              <a:t>tables · plots · dashboard</a:t>
            </a:r>
            <a:endParaRPr lang="en-US" sz="1000" dirty="0"/>
          </a:p>
        </p:txBody>
      </p:sp>
      <p:sp>
        <p:nvSpPr>
          <p:cNvPr id="32" name="Text 29"/>
          <p:cNvSpPr txBox="1"/>
          <p:nvPr/>
        </p:nvSpPr>
        <p:spPr>
          <a:xfrm>
            <a:off x="320040" y="3429000"/>
            <a:ext cx="3291840" cy="274320"/>
          </a:xfrm>
          <a:prstGeom prst="rect">
            <a:avLst/>
          </a:prstGeom>
          <a:noFill/>
          <a:ln/>
        </p:spPr>
        <p:txBody>
          <a:bodyPr wrap="square" lIns="0" tIns="0" rIns="0" bIns="0" rtlCol="0" anchor="ctr"/>
          <a:lstStyle/>
          <a:p>
            <a:pPr indent="0" marL="0">
              <a:buNone/>
            </a:pPr>
            <a:r>
              <a:rPr lang="en-US" sz="1100" dirty="0">
                <a:solidFill>
                  <a:srgbClr val="5A6577"/>
                </a:solidFill>
                <a:latin typeface="Calibri" pitchFamily="34" charset="0"/>
                <a:ea typeface="Calibri" pitchFamily="34" charset="-122"/>
                <a:cs typeface="Calibri" pitchFamily="34" charset="-120"/>
              </a:rPr>
              <a:t>Scaffolding (needed to test it)</a:t>
            </a:r>
            <a:endParaRPr lang="en-US" sz="1100" dirty="0"/>
          </a:p>
        </p:txBody>
      </p:sp>
      <p:sp>
        <p:nvSpPr>
          <p:cNvPr id="33" name="Shape 30"/>
          <p:cNvSpPr/>
          <p:nvPr/>
        </p:nvSpPr>
        <p:spPr>
          <a:xfrm>
            <a:off x="4160520" y="3474720"/>
            <a:ext cx="4480560" cy="0"/>
          </a:xfrm>
          <a:prstGeom prst="line">
            <a:avLst/>
          </a:prstGeom>
          <a:noFill/>
          <a:ln w="31750">
            <a:solidFill>
              <a:srgbClr val="B8863B"/>
            </a:solidFill>
            <a:prstDash val="solid"/>
          </a:ln>
        </p:spPr>
      </p:sp>
      <p:sp>
        <p:nvSpPr>
          <p:cNvPr id="34" name="Text 31"/>
          <p:cNvSpPr txBox="1"/>
          <p:nvPr/>
        </p:nvSpPr>
        <p:spPr>
          <a:xfrm>
            <a:off x="4160520" y="3520440"/>
            <a:ext cx="4480560" cy="274320"/>
          </a:xfrm>
          <a:prstGeom prst="rect">
            <a:avLst/>
          </a:prstGeom>
          <a:noFill/>
          <a:ln/>
        </p:spPr>
        <p:txBody>
          <a:bodyPr wrap="square" lIns="0" tIns="0" rIns="0" bIns="0" rtlCol="0" anchor="ctr"/>
          <a:lstStyle/>
          <a:p>
            <a:pPr algn="ctr" indent="0" marL="0">
              <a:buNone/>
            </a:pPr>
            <a:r>
              <a:rPr lang="en-US" sz="1200" b="1" dirty="0">
                <a:solidFill>
                  <a:srgbClr val="B8863B"/>
                </a:solidFill>
                <a:latin typeface="Calibri" pitchFamily="34" charset="0"/>
                <a:ea typeface="Calibri" pitchFamily="34" charset="-122"/>
                <a:cs typeface="Calibri" pitchFamily="34" charset="-120"/>
              </a:rPr>
              <a:t>Research contribution</a:t>
            </a:r>
            <a:endParaRPr lang="en-US" sz="1200" dirty="0"/>
          </a:p>
        </p:txBody>
      </p:sp>
      <p:sp>
        <p:nvSpPr>
          <p:cNvPr id="35" name="Text 32"/>
          <p:cNvSpPr txBox="1"/>
          <p:nvPr/>
        </p:nvSpPr>
        <p:spPr>
          <a:xfrm>
            <a:off x="548640" y="4023360"/>
            <a:ext cx="8046720" cy="365760"/>
          </a:xfrm>
          <a:prstGeom prst="rect">
            <a:avLst/>
          </a:prstGeom>
          <a:noFill/>
          <a:ln/>
        </p:spPr>
        <p:txBody>
          <a:bodyPr wrap="square" lIns="0" tIns="0" rIns="0" bIns="0" rtlCol="0" anchor="ctr"/>
          <a:lstStyle/>
          <a:p>
            <a:pPr indent="0" marL="0">
              <a:buNone/>
            </a:pPr>
            <a:r>
              <a:rPr lang="en-US" sz="1400" i="1" dirty="0">
                <a:solidFill>
                  <a:srgbClr val="1B2233"/>
                </a:solidFill>
                <a:latin typeface="Calibri" pitchFamily="34" charset="0"/>
                <a:ea typeface="Calibri" pitchFamily="34" charset="-122"/>
                <a:cs typeface="Calibri" pitchFamily="34" charset="-120"/>
              </a:rPr>
              <a:t>The monitor is the contribution. The model and the data are the scaffolding that lets us test it.</a:t>
            </a:r>
            <a:endParaRPr lang="en-US" sz="1400" dirty="0"/>
          </a:p>
        </p:txBody>
      </p:sp>
      <p:sp>
        <p:nvSpPr>
          <p:cNvPr id="36" name="Text 33"/>
          <p:cNvSpPr txBox="1"/>
          <p:nvPr/>
        </p:nvSpPr>
        <p:spPr>
          <a:xfrm>
            <a:off x="548640" y="4663440"/>
            <a:ext cx="5486400" cy="274320"/>
          </a:xfrm>
          <a:prstGeom prst="rect">
            <a:avLst/>
          </a:prstGeom>
          <a:noFill/>
          <a:ln/>
        </p:spPr>
        <p:txBody>
          <a:bodyPr wrap="square" lIns="0" tIns="0" rIns="0" bIns="0" rtlCol="0" anchor="ctr"/>
          <a:lstStyle/>
          <a:p>
            <a:pPr indent="0" marL="0">
              <a:buNone/>
            </a:pPr>
            <a:r>
              <a:rPr lang="en-US" sz="1000" dirty="0">
                <a:solidFill>
                  <a:srgbClr val="5A6577"/>
                </a:solidFill>
                <a:latin typeface="Calibri" pitchFamily="34" charset="0"/>
                <a:ea typeface="Calibri" pitchFamily="34" charset="-122"/>
                <a:cs typeface="Calibri" pitchFamily="34" charset="-120"/>
              </a:rPr>
              <a:t>Saniya Uzma  |  ZoeenCloud AI/ML Internship</a:t>
            </a:r>
            <a:endParaRPr lang="en-US" sz="1000" dirty="0"/>
          </a:p>
        </p:txBody>
      </p:sp>
      <p:sp>
        <p:nvSpPr>
          <p:cNvPr id="37" name="Text 34"/>
          <p:cNvSpPr txBox="1"/>
          <p:nvPr/>
        </p:nvSpPr>
        <p:spPr>
          <a:xfrm>
            <a:off x="8229600" y="4663440"/>
            <a:ext cx="365760" cy="274320"/>
          </a:xfrm>
          <a:prstGeom prst="rect">
            <a:avLst/>
          </a:prstGeom>
          <a:noFill/>
          <a:ln/>
        </p:spPr>
        <p:txBody>
          <a:bodyPr wrap="square" lIns="0" tIns="0" rIns="0" bIns="0" rtlCol="0" anchor="ctr"/>
          <a:lstStyle/>
          <a:p>
            <a:pPr algn="r" indent="0" marL="0">
              <a:buNone/>
            </a:pPr>
            <a:r>
              <a:rPr lang="en-US" sz="1000" dirty="0">
                <a:solidFill>
                  <a:srgbClr val="5A657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B2233"/>
                </a:solidFill>
                <a:latin typeface="Calibri" pitchFamily="34" charset="0"/>
                <a:ea typeface="Calibri" pitchFamily="34" charset="-122"/>
                <a:cs typeface="Calibri" pitchFamily="34" charset="-120"/>
              </a:rPr>
              <a:t>Tech stack</a:t>
            </a:r>
            <a:endParaRPr lang="en-US" sz="2800" dirty="0"/>
          </a:p>
        </p:txBody>
      </p:sp>
      <p:sp>
        <p:nvSpPr>
          <p:cNvPr id="4" name="Shape 1"/>
          <p:cNvSpPr/>
          <p:nvPr/>
        </p:nvSpPr>
        <p:spPr>
          <a:xfrm>
            <a:off x="548640" y="960120"/>
            <a:ext cx="822960" cy="45720"/>
          </a:xfrm>
          <a:prstGeom prst="rect">
            <a:avLst/>
          </a:prstGeom>
          <a:solidFill>
            <a:srgbClr val="00B4D8"/>
          </a:solidFill>
          <a:ln w="12700">
            <a:solidFill>
              <a:srgbClr val="00B4D8"/>
            </a:solidFill>
            <a:prstDash val="solid"/>
          </a:ln>
        </p:spPr>
      </p:sp>
      <p:sp>
        <p:nvSpPr>
          <p:cNvPr id="5" name="Shape 2"/>
          <p:cNvSpPr/>
          <p:nvPr/>
        </p:nvSpPr>
        <p:spPr>
          <a:xfrm>
            <a:off x="548640" y="1371600"/>
            <a:ext cx="1828800" cy="1234440"/>
          </a:xfrm>
          <a:prstGeom prst="roundRect">
            <a:avLst>
              <a:gd name="adj" fmla="val 5926"/>
            </a:avLst>
          </a:prstGeom>
          <a:solidFill>
            <a:srgbClr val="E8F0F2"/>
          </a:solidFill>
          <a:ln w="12700">
            <a:solidFill>
              <a:srgbClr val="E8F0F2"/>
            </a:solidFill>
            <a:prstDash val="solid"/>
          </a:ln>
        </p:spPr>
      </p:sp>
      <p:sp>
        <p:nvSpPr>
          <p:cNvPr id="6" name="Text 3"/>
          <p:cNvSpPr txBox="1"/>
          <p:nvPr/>
        </p:nvSpPr>
        <p:spPr>
          <a:xfrm>
            <a:off x="640080" y="1371600"/>
            <a:ext cx="1645920" cy="1234440"/>
          </a:xfrm>
          <a:prstGeom prst="rect">
            <a:avLst/>
          </a:prstGeom>
          <a:noFill/>
          <a:ln/>
        </p:spPr>
        <p:txBody>
          <a:bodyPr wrap="square" lIns="0" tIns="0" rIns="0" bIns="0" rtlCol="0" anchor="ctr"/>
          <a:lstStyle/>
          <a:p>
            <a:pPr algn="ctr" indent="0" marL="0">
              <a:buNone/>
            </a:pPr>
            <a:r>
              <a:rPr lang="en-US" sz="1400" b="1" dirty="0">
                <a:solidFill>
                  <a:srgbClr val="1B2233"/>
                </a:solidFill>
                <a:latin typeface="Calibri" pitchFamily="34" charset="0"/>
                <a:ea typeface="Calibri" pitchFamily="34" charset="-122"/>
                <a:cs typeface="Calibri" pitchFamily="34" charset="-120"/>
              </a:rPr>
              <a:t>Python</a:t>
            </a:r>
            <a:endParaRPr lang="en-US" sz="1400" dirty="0"/>
          </a:p>
          <a:p>
            <a:pPr algn="ctr" indent="0" marL="0">
              <a:buNone/>
            </a:pPr>
            <a:r>
              <a:rPr lang="en-US" sz="1100" dirty="0">
                <a:solidFill>
                  <a:srgbClr val="5A6577"/>
                </a:solidFill>
                <a:latin typeface="Calibri" pitchFamily="34" charset="0"/>
                <a:ea typeface="Calibri" pitchFamily="34" charset="-122"/>
                <a:cs typeface="Calibri" pitchFamily="34" charset="-120"/>
              </a:rPr>
              <a:t>everything</a:t>
            </a:r>
            <a:endParaRPr lang="en-US" sz="1400" dirty="0"/>
          </a:p>
        </p:txBody>
      </p:sp>
      <p:sp>
        <p:nvSpPr>
          <p:cNvPr id="7" name="Shape 4"/>
          <p:cNvSpPr/>
          <p:nvPr/>
        </p:nvSpPr>
        <p:spPr>
          <a:xfrm>
            <a:off x="2606040" y="1371600"/>
            <a:ext cx="1828800" cy="1234440"/>
          </a:xfrm>
          <a:prstGeom prst="roundRect">
            <a:avLst>
              <a:gd name="adj" fmla="val 5926"/>
            </a:avLst>
          </a:prstGeom>
          <a:solidFill>
            <a:srgbClr val="E8F0F2"/>
          </a:solidFill>
          <a:ln w="12700">
            <a:solidFill>
              <a:srgbClr val="E8F0F2"/>
            </a:solidFill>
            <a:prstDash val="solid"/>
          </a:ln>
        </p:spPr>
      </p:sp>
      <p:sp>
        <p:nvSpPr>
          <p:cNvPr id="8" name="Text 5"/>
          <p:cNvSpPr txBox="1"/>
          <p:nvPr/>
        </p:nvSpPr>
        <p:spPr>
          <a:xfrm>
            <a:off x="2697480" y="1371600"/>
            <a:ext cx="1645920" cy="1234440"/>
          </a:xfrm>
          <a:prstGeom prst="rect">
            <a:avLst/>
          </a:prstGeom>
          <a:noFill/>
          <a:ln/>
        </p:spPr>
        <p:txBody>
          <a:bodyPr wrap="square" lIns="0" tIns="0" rIns="0" bIns="0" rtlCol="0" anchor="ctr"/>
          <a:lstStyle/>
          <a:p>
            <a:pPr algn="ctr" indent="0" marL="0">
              <a:buNone/>
            </a:pPr>
            <a:r>
              <a:rPr lang="en-US" sz="1400" b="1" dirty="0">
                <a:solidFill>
                  <a:srgbClr val="1B2233"/>
                </a:solidFill>
                <a:latin typeface="Calibri" pitchFamily="34" charset="0"/>
                <a:ea typeface="Calibri" pitchFamily="34" charset="-122"/>
                <a:cs typeface="Calibri" pitchFamily="34" charset="-120"/>
              </a:rPr>
              <a:t>Pandas + NumPy</a:t>
            </a:r>
            <a:endParaRPr lang="en-US" sz="1400" dirty="0"/>
          </a:p>
          <a:p>
            <a:pPr algn="ctr" indent="0" marL="0">
              <a:buNone/>
            </a:pPr>
            <a:r>
              <a:rPr lang="en-US" sz="1100" dirty="0">
                <a:solidFill>
                  <a:srgbClr val="5A6577"/>
                </a:solidFill>
                <a:latin typeface="Calibri" pitchFamily="34" charset="0"/>
                <a:ea typeface="Calibri" pitchFamily="34" charset="-122"/>
                <a:cs typeface="Calibri" pitchFamily="34" charset="-120"/>
              </a:rPr>
              <a:t>data and windows</a:t>
            </a:r>
            <a:endParaRPr lang="en-US" sz="1400" dirty="0"/>
          </a:p>
        </p:txBody>
      </p:sp>
      <p:sp>
        <p:nvSpPr>
          <p:cNvPr id="9" name="Shape 6"/>
          <p:cNvSpPr/>
          <p:nvPr/>
        </p:nvSpPr>
        <p:spPr>
          <a:xfrm>
            <a:off x="4663440" y="1371600"/>
            <a:ext cx="1828800" cy="1234440"/>
          </a:xfrm>
          <a:prstGeom prst="roundRect">
            <a:avLst>
              <a:gd name="adj" fmla="val 5926"/>
            </a:avLst>
          </a:prstGeom>
          <a:solidFill>
            <a:srgbClr val="E8F0F2"/>
          </a:solidFill>
          <a:ln w="12700">
            <a:solidFill>
              <a:srgbClr val="E8F0F2"/>
            </a:solidFill>
            <a:prstDash val="solid"/>
          </a:ln>
        </p:spPr>
      </p:sp>
      <p:sp>
        <p:nvSpPr>
          <p:cNvPr id="10" name="Text 7"/>
          <p:cNvSpPr txBox="1"/>
          <p:nvPr/>
        </p:nvSpPr>
        <p:spPr>
          <a:xfrm>
            <a:off x="4754880" y="1371600"/>
            <a:ext cx="1645920" cy="1234440"/>
          </a:xfrm>
          <a:prstGeom prst="rect">
            <a:avLst/>
          </a:prstGeom>
          <a:noFill/>
          <a:ln/>
        </p:spPr>
        <p:txBody>
          <a:bodyPr wrap="square" lIns="0" tIns="0" rIns="0" bIns="0" rtlCol="0" anchor="ctr"/>
          <a:lstStyle/>
          <a:p>
            <a:pPr algn="ctr" indent="0" marL="0">
              <a:buNone/>
            </a:pPr>
            <a:r>
              <a:rPr lang="en-US" sz="1400" b="1" dirty="0">
                <a:solidFill>
                  <a:srgbClr val="1B2233"/>
                </a:solidFill>
                <a:latin typeface="Calibri" pitchFamily="34" charset="0"/>
                <a:ea typeface="Calibri" pitchFamily="34" charset="-122"/>
                <a:cs typeface="Calibri" pitchFamily="34" charset="-120"/>
              </a:rPr>
              <a:t>TensorFlow / Keras</a:t>
            </a:r>
            <a:endParaRPr lang="en-US" sz="1400" dirty="0"/>
          </a:p>
          <a:p>
            <a:pPr algn="ctr" indent="0" marL="0">
              <a:buNone/>
            </a:pPr>
            <a:r>
              <a:rPr lang="en-US" sz="1100" dirty="0">
                <a:solidFill>
                  <a:srgbClr val="5A6577"/>
                </a:solidFill>
                <a:latin typeface="Calibri" pitchFamily="34" charset="0"/>
                <a:ea typeface="Calibri" pitchFamily="34" charset="-122"/>
                <a:cs typeface="Calibri" pitchFamily="34" charset="-120"/>
              </a:rPr>
              <a:t>model, autoencoder</a:t>
            </a:r>
            <a:endParaRPr lang="en-US" sz="1400" dirty="0"/>
          </a:p>
        </p:txBody>
      </p:sp>
      <p:sp>
        <p:nvSpPr>
          <p:cNvPr id="11" name="Shape 8"/>
          <p:cNvSpPr/>
          <p:nvPr/>
        </p:nvSpPr>
        <p:spPr>
          <a:xfrm>
            <a:off x="6720840" y="1371600"/>
            <a:ext cx="1828800" cy="1234440"/>
          </a:xfrm>
          <a:prstGeom prst="roundRect">
            <a:avLst>
              <a:gd name="adj" fmla="val 5926"/>
            </a:avLst>
          </a:prstGeom>
          <a:solidFill>
            <a:srgbClr val="E8F0F2"/>
          </a:solidFill>
          <a:ln w="12700">
            <a:solidFill>
              <a:srgbClr val="E8F0F2"/>
            </a:solidFill>
            <a:prstDash val="solid"/>
          </a:ln>
        </p:spPr>
      </p:sp>
      <p:sp>
        <p:nvSpPr>
          <p:cNvPr id="12" name="Text 9"/>
          <p:cNvSpPr txBox="1"/>
          <p:nvPr/>
        </p:nvSpPr>
        <p:spPr>
          <a:xfrm>
            <a:off x="6812280" y="1371600"/>
            <a:ext cx="1645920" cy="1234440"/>
          </a:xfrm>
          <a:prstGeom prst="rect">
            <a:avLst/>
          </a:prstGeom>
          <a:noFill/>
          <a:ln/>
        </p:spPr>
        <p:txBody>
          <a:bodyPr wrap="square" lIns="0" tIns="0" rIns="0" bIns="0" rtlCol="0" anchor="ctr"/>
          <a:lstStyle/>
          <a:p>
            <a:pPr algn="ctr" indent="0" marL="0">
              <a:buNone/>
            </a:pPr>
            <a:r>
              <a:rPr lang="en-US" sz="1400" b="1" dirty="0">
                <a:solidFill>
                  <a:srgbClr val="1B2233"/>
                </a:solidFill>
                <a:latin typeface="Calibri" pitchFamily="34" charset="0"/>
                <a:ea typeface="Calibri" pitchFamily="34" charset="-122"/>
                <a:cs typeface="Calibri" pitchFamily="34" charset="-120"/>
              </a:rPr>
              <a:t>scikit-learn + SciPy</a:t>
            </a:r>
            <a:endParaRPr lang="en-US" sz="1400" dirty="0"/>
          </a:p>
          <a:p>
            <a:pPr algn="ctr" indent="0" marL="0">
              <a:buNone/>
            </a:pPr>
            <a:r>
              <a:rPr lang="en-US" sz="1100" dirty="0">
                <a:solidFill>
                  <a:srgbClr val="5A6577"/>
                </a:solidFill>
                <a:latin typeface="Calibri" pitchFamily="34" charset="0"/>
                <a:ea typeface="Calibri" pitchFamily="34" charset="-122"/>
                <a:cs typeface="Calibri" pitchFamily="34" charset="-120"/>
              </a:rPr>
              <a:t>tests, CUSUM, metrics</a:t>
            </a:r>
            <a:endParaRPr lang="en-US" sz="1400" dirty="0"/>
          </a:p>
        </p:txBody>
      </p:sp>
      <p:sp>
        <p:nvSpPr>
          <p:cNvPr id="13" name="Shape 10"/>
          <p:cNvSpPr/>
          <p:nvPr/>
        </p:nvSpPr>
        <p:spPr>
          <a:xfrm>
            <a:off x="548640" y="2834640"/>
            <a:ext cx="1828800" cy="1234440"/>
          </a:xfrm>
          <a:prstGeom prst="roundRect">
            <a:avLst>
              <a:gd name="adj" fmla="val 5926"/>
            </a:avLst>
          </a:prstGeom>
          <a:solidFill>
            <a:srgbClr val="E8F0F2"/>
          </a:solidFill>
          <a:ln w="12700">
            <a:solidFill>
              <a:srgbClr val="E8F0F2"/>
            </a:solidFill>
            <a:prstDash val="solid"/>
          </a:ln>
        </p:spPr>
      </p:sp>
      <p:sp>
        <p:nvSpPr>
          <p:cNvPr id="14" name="Text 11"/>
          <p:cNvSpPr txBox="1"/>
          <p:nvPr/>
        </p:nvSpPr>
        <p:spPr>
          <a:xfrm>
            <a:off x="640080" y="2834640"/>
            <a:ext cx="1645920" cy="1234440"/>
          </a:xfrm>
          <a:prstGeom prst="rect">
            <a:avLst/>
          </a:prstGeom>
          <a:noFill/>
          <a:ln/>
        </p:spPr>
        <p:txBody>
          <a:bodyPr wrap="square" lIns="0" tIns="0" rIns="0" bIns="0" rtlCol="0" anchor="ctr"/>
          <a:lstStyle/>
          <a:p>
            <a:pPr algn="ctr" indent="0" marL="0">
              <a:buNone/>
            </a:pPr>
            <a:r>
              <a:rPr lang="en-US" sz="1400" b="1" dirty="0">
                <a:solidFill>
                  <a:srgbClr val="1B2233"/>
                </a:solidFill>
                <a:latin typeface="Calibri" pitchFamily="34" charset="0"/>
                <a:ea typeface="Calibri" pitchFamily="34" charset="-122"/>
                <a:cs typeface="Calibri" pitchFamily="34" charset="-120"/>
              </a:rPr>
              <a:t>river, SHAP</a:t>
            </a:r>
            <a:endParaRPr lang="en-US" sz="1400" dirty="0"/>
          </a:p>
          <a:p>
            <a:pPr algn="ctr" indent="0" marL="0">
              <a:buNone/>
            </a:pPr>
            <a:r>
              <a:rPr lang="en-US" sz="1100" dirty="0">
                <a:solidFill>
                  <a:srgbClr val="5A6577"/>
                </a:solidFill>
                <a:latin typeface="Calibri" pitchFamily="34" charset="0"/>
                <a:ea typeface="Calibri" pitchFamily="34" charset="-122"/>
                <a:cs typeface="Calibri" pitchFamily="34" charset="-120"/>
              </a:rPr>
              <a:t>baselines, reference</a:t>
            </a:r>
            <a:endParaRPr lang="en-US" sz="1400" dirty="0"/>
          </a:p>
        </p:txBody>
      </p:sp>
      <p:sp>
        <p:nvSpPr>
          <p:cNvPr id="15" name="Shape 12"/>
          <p:cNvSpPr/>
          <p:nvPr/>
        </p:nvSpPr>
        <p:spPr>
          <a:xfrm>
            <a:off x="2606040" y="2834640"/>
            <a:ext cx="1828800" cy="1234440"/>
          </a:xfrm>
          <a:prstGeom prst="roundRect">
            <a:avLst>
              <a:gd name="adj" fmla="val 5926"/>
            </a:avLst>
          </a:prstGeom>
          <a:solidFill>
            <a:srgbClr val="E8F0F2"/>
          </a:solidFill>
          <a:ln w="12700">
            <a:solidFill>
              <a:srgbClr val="E8F0F2"/>
            </a:solidFill>
            <a:prstDash val="solid"/>
          </a:ln>
        </p:spPr>
      </p:sp>
      <p:sp>
        <p:nvSpPr>
          <p:cNvPr id="16" name="Text 13"/>
          <p:cNvSpPr txBox="1"/>
          <p:nvPr/>
        </p:nvSpPr>
        <p:spPr>
          <a:xfrm>
            <a:off x="2697480" y="2834640"/>
            <a:ext cx="1645920" cy="1234440"/>
          </a:xfrm>
          <a:prstGeom prst="rect">
            <a:avLst/>
          </a:prstGeom>
          <a:noFill/>
          <a:ln/>
        </p:spPr>
        <p:txBody>
          <a:bodyPr wrap="square" lIns="0" tIns="0" rIns="0" bIns="0" rtlCol="0" anchor="ctr"/>
          <a:lstStyle/>
          <a:p>
            <a:pPr algn="ctr" indent="0" marL="0">
              <a:buNone/>
            </a:pPr>
            <a:r>
              <a:rPr lang="en-US" sz="1400" b="1" dirty="0">
                <a:solidFill>
                  <a:srgbClr val="1B2233"/>
                </a:solidFill>
                <a:latin typeface="Calibri" pitchFamily="34" charset="0"/>
                <a:ea typeface="Calibri" pitchFamily="34" charset="-122"/>
                <a:cs typeface="Calibri" pitchFamily="34" charset="-120"/>
              </a:rPr>
              <a:t>Matplotlib + Plotly</a:t>
            </a:r>
            <a:endParaRPr lang="en-US" sz="1400" dirty="0"/>
          </a:p>
          <a:p>
            <a:pPr algn="ctr" indent="0" marL="0">
              <a:buNone/>
            </a:pPr>
            <a:r>
              <a:rPr lang="en-US" sz="1100" dirty="0">
                <a:solidFill>
                  <a:srgbClr val="5A6577"/>
                </a:solidFill>
                <a:latin typeface="Calibri" pitchFamily="34" charset="0"/>
                <a:ea typeface="Calibri" pitchFamily="34" charset="-122"/>
                <a:cs typeface="Calibri" pitchFamily="34" charset="-120"/>
              </a:rPr>
              <a:t>figures</a:t>
            </a:r>
            <a:endParaRPr lang="en-US" sz="1400" dirty="0"/>
          </a:p>
        </p:txBody>
      </p:sp>
      <p:sp>
        <p:nvSpPr>
          <p:cNvPr id="17" name="Shape 14"/>
          <p:cNvSpPr/>
          <p:nvPr/>
        </p:nvSpPr>
        <p:spPr>
          <a:xfrm>
            <a:off x="4663440" y="2834640"/>
            <a:ext cx="1828800" cy="1234440"/>
          </a:xfrm>
          <a:prstGeom prst="roundRect">
            <a:avLst>
              <a:gd name="adj" fmla="val 5926"/>
            </a:avLst>
          </a:prstGeom>
          <a:solidFill>
            <a:srgbClr val="E8F0F2"/>
          </a:solidFill>
          <a:ln w="12700">
            <a:solidFill>
              <a:srgbClr val="E8F0F2"/>
            </a:solidFill>
            <a:prstDash val="solid"/>
          </a:ln>
        </p:spPr>
      </p:sp>
      <p:sp>
        <p:nvSpPr>
          <p:cNvPr id="18" name="Text 15"/>
          <p:cNvSpPr txBox="1"/>
          <p:nvPr/>
        </p:nvSpPr>
        <p:spPr>
          <a:xfrm>
            <a:off x="4754880" y="2834640"/>
            <a:ext cx="1645920" cy="1234440"/>
          </a:xfrm>
          <a:prstGeom prst="rect">
            <a:avLst/>
          </a:prstGeom>
          <a:noFill/>
          <a:ln/>
        </p:spPr>
        <p:txBody>
          <a:bodyPr wrap="square" lIns="0" tIns="0" rIns="0" bIns="0" rtlCol="0" anchor="ctr"/>
          <a:lstStyle/>
          <a:p>
            <a:pPr algn="ctr" indent="0" marL="0">
              <a:buNone/>
            </a:pPr>
            <a:r>
              <a:rPr lang="en-US" sz="1400" b="1" dirty="0">
                <a:solidFill>
                  <a:srgbClr val="1B2233"/>
                </a:solidFill>
                <a:latin typeface="Calibri" pitchFamily="34" charset="0"/>
                <a:ea typeface="Calibri" pitchFamily="34" charset="-122"/>
                <a:cs typeface="Calibri" pitchFamily="34" charset="-120"/>
              </a:rPr>
              <a:t>Streamlit</a:t>
            </a:r>
            <a:endParaRPr lang="en-US" sz="1400" dirty="0"/>
          </a:p>
          <a:p>
            <a:pPr algn="ctr" indent="0" marL="0">
              <a:buNone/>
            </a:pPr>
            <a:r>
              <a:rPr lang="en-US" sz="1100" dirty="0">
                <a:solidFill>
                  <a:srgbClr val="5A6577"/>
                </a:solidFill>
                <a:latin typeface="Calibri" pitchFamily="34" charset="0"/>
                <a:ea typeface="Calibri" pitchFamily="34" charset="-122"/>
                <a:cs typeface="Calibri" pitchFamily="34" charset="-120"/>
              </a:rPr>
              <a:t>optional demo</a:t>
            </a:r>
            <a:endParaRPr lang="en-US" sz="1400" dirty="0"/>
          </a:p>
        </p:txBody>
      </p:sp>
      <p:sp>
        <p:nvSpPr>
          <p:cNvPr id="19" name="Shape 16"/>
          <p:cNvSpPr/>
          <p:nvPr/>
        </p:nvSpPr>
        <p:spPr>
          <a:xfrm>
            <a:off x="6720840" y="2834640"/>
            <a:ext cx="1828800" cy="1234440"/>
          </a:xfrm>
          <a:prstGeom prst="roundRect">
            <a:avLst>
              <a:gd name="adj" fmla="val 5926"/>
            </a:avLst>
          </a:prstGeom>
          <a:solidFill>
            <a:srgbClr val="E8F0F2"/>
          </a:solidFill>
          <a:ln w="12700">
            <a:solidFill>
              <a:srgbClr val="E8F0F2"/>
            </a:solidFill>
            <a:prstDash val="solid"/>
          </a:ln>
        </p:spPr>
      </p:sp>
      <p:sp>
        <p:nvSpPr>
          <p:cNvPr id="20" name="Text 17"/>
          <p:cNvSpPr txBox="1"/>
          <p:nvPr/>
        </p:nvSpPr>
        <p:spPr>
          <a:xfrm>
            <a:off x="6812280" y="2834640"/>
            <a:ext cx="1645920" cy="1234440"/>
          </a:xfrm>
          <a:prstGeom prst="rect">
            <a:avLst/>
          </a:prstGeom>
          <a:noFill/>
          <a:ln/>
        </p:spPr>
        <p:txBody>
          <a:bodyPr wrap="square" lIns="0" tIns="0" rIns="0" bIns="0" rtlCol="0" anchor="ctr"/>
          <a:lstStyle/>
          <a:p>
            <a:pPr algn="ctr" indent="0" marL="0">
              <a:buNone/>
            </a:pPr>
            <a:r>
              <a:rPr lang="en-US" sz="1400" b="1" dirty="0">
                <a:solidFill>
                  <a:srgbClr val="1B2233"/>
                </a:solidFill>
                <a:latin typeface="Calibri" pitchFamily="34" charset="0"/>
                <a:ea typeface="Calibri" pitchFamily="34" charset="-122"/>
                <a:cs typeface="Calibri" pitchFamily="34" charset="-120"/>
              </a:rPr>
              <a:t>Colab + Drive + GitHub</a:t>
            </a:r>
            <a:endParaRPr lang="en-US" sz="1400" dirty="0"/>
          </a:p>
          <a:p>
            <a:pPr algn="ctr" indent="0" marL="0">
              <a:buNone/>
            </a:pPr>
            <a:r>
              <a:rPr lang="en-US" sz="1100" dirty="0">
                <a:solidFill>
                  <a:srgbClr val="5A6577"/>
                </a:solidFill>
                <a:latin typeface="Calibri" pitchFamily="34" charset="0"/>
                <a:ea typeface="Calibri" pitchFamily="34" charset="-122"/>
                <a:cs typeface="Calibri" pitchFamily="34" charset="-120"/>
              </a:rPr>
              <a:t>run, store, version</a:t>
            </a:r>
            <a:endParaRPr lang="en-US" sz="1400" dirty="0"/>
          </a:p>
        </p:txBody>
      </p:sp>
      <p:sp>
        <p:nvSpPr>
          <p:cNvPr id="21" name="Text 18"/>
          <p:cNvSpPr txBox="1"/>
          <p:nvPr/>
        </p:nvSpPr>
        <p:spPr>
          <a:xfrm>
            <a:off x="548640" y="4663440"/>
            <a:ext cx="5486400" cy="274320"/>
          </a:xfrm>
          <a:prstGeom prst="rect">
            <a:avLst/>
          </a:prstGeom>
          <a:noFill/>
          <a:ln/>
        </p:spPr>
        <p:txBody>
          <a:bodyPr wrap="square" lIns="0" tIns="0" rIns="0" bIns="0" rtlCol="0" anchor="ctr"/>
          <a:lstStyle/>
          <a:p>
            <a:pPr indent="0" marL="0">
              <a:buNone/>
            </a:pPr>
            <a:r>
              <a:rPr lang="en-US" sz="1000" dirty="0">
                <a:solidFill>
                  <a:srgbClr val="5A6577"/>
                </a:solidFill>
                <a:latin typeface="Calibri" pitchFamily="34" charset="0"/>
                <a:ea typeface="Calibri" pitchFamily="34" charset="-122"/>
                <a:cs typeface="Calibri" pitchFamily="34" charset="-120"/>
              </a:rPr>
              <a:t>Saniya Uzma  |  ZoeenCloud AI/ML Internship</a:t>
            </a:r>
            <a:endParaRPr lang="en-US" sz="1000" dirty="0"/>
          </a:p>
        </p:txBody>
      </p:sp>
      <p:sp>
        <p:nvSpPr>
          <p:cNvPr id="22" name="Text 19"/>
          <p:cNvSpPr txBox="1"/>
          <p:nvPr/>
        </p:nvSpPr>
        <p:spPr>
          <a:xfrm>
            <a:off x="8229600" y="4663440"/>
            <a:ext cx="365760" cy="274320"/>
          </a:xfrm>
          <a:prstGeom prst="rect">
            <a:avLst/>
          </a:prstGeom>
          <a:noFill/>
          <a:ln/>
        </p:spPr>
        <p:txBody>
          <a:bodyPr wrap="square" lIns="0" tIns="0" rIns="0" bIns="0" rtlCol="0" anchor="ctr"/>
          <a:lstStyle/>
          <a:p>
            <a:pPr algn="r" indent="0" marL="0">
              <a:buNone/>
            </a:pPr>
            <a:r>
              <a:rPr lang="en-US" sz="1000" dirty="0">
                <a:solidFill>
                  <a:srgbClr val="5A657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and Explaining Meaningful Behavioural Changes in Deployed AI Models</dc:title>
  <dc:subject>PptxGenJS Presentation</dc:subject>
  <dc:creator>Saniya Uzma</dc:creator>
  <cp:lastModifiedBy>Saniya Uzma</cp:lastModifiedBy>
  <cp:revision>1</cp:revision>
  <dcterms:created xsi:type="dcterms:W3CDTF">2026-10-19T16:48:12Z</dcterms:created>
  <dcterms:modified xsi:type="dcterms:W3CDTF">2026-10-19T16:48:12Z</dcterms:modified>
</cp:coreProperties>
</file>